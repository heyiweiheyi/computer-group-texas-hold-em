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96b2356a644c80" /><Relationship Type="http://schemas.openxmlformats.org/officeDocument/2006/relationships/extended-properties" Target="/docProps/app.xml" Id="R74e6a60157af4c59" /><Relationship Type="http://schemas.openxmlformats.org/officeDocument/2006/relationships/officeDocument" Target="/ppt/presentation.xml" Id="Rc86d5696059047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7517b348ef4393"/>
  </p:sldMasterIdLst>
  <p:notesMasterIdLst>
    <p:notesMasterId xmlns:r="http://schemas.openxmlformats.org/officeDocument/2006/relationships" r:id="Rd80ffc8025f4495b"/>
  </p:notesMasterIdLst>
  <p:sldIdLst>
    <p:sldId xmlns:r="http://schemas.openxmlformats.org/officeDocument/2006/relationships" id="256" r:id="Racd00c78374c4e0c"/>
    <p:sldId xmlns:r="http://schemas.openxmlformats.org/officeDocument/2006/relationships" id="257" r:id="R166bfd03659f4b99"/>
    <p:sldId xmlns:r="http://schemas.openxmlformats.org/officeDocument/2006/relationships" id="258" r:id="Rd45d65b810894089"/>
    <p:sldId xmlns:r="http://schemas.openxmlformats.org/officeDocument/2006/relationships" id="259" r:id="R1f538ae074304e3e"/>
    <p:sldId xmlns:r="http://schemas.openxmlformats.org/officeDocument/2006/relationships" id="260" r:id="Raa3f7fb8b10840bd"/>
    <p:sldId xmlns:r="http://schemas.openxmlformats.org/officeDocument/2006/relationships" id="261" r:id="Re1474d221a9b416a"/>
    <p:sldId xmlns:r="http://schemas.openxmlformats.org/officeDocument/2006/relationships" id="262" r:id="Rbf61dc41b6d641e1"/>
    <p:sldId xmlns:r="http://schemas.openxmlformats.org/officeDocument/2006/relationships" id="263" r:id="R81a54d502fc346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078da3d44f4b1b" /><Relationship Type="http://schemas.openxmlformats.org/officeDocument/2006/relationships/slideMaster" Target="/ppt/slideMasters/slideMaster1.xml" Id="Rf97517b348ef4393" /><Relationship Type="http://schemas.openxmlformats.org/officeDocument/2006/relationships/notesMaster" Target="/ppt/notesMasters/notesMaster1.xml" Id="Rd80ffc8025f4495b" /><Relationship Type="http://schemas.openxmlformats.org/officeDocument/2006/relationships/presProps" Target="/ppt/presProps.xml" Id="R8c2588f6bdb7471f" /><Relationship Type="http://schemas.openxmlformats.org/officeDocument/2006/relationships/tableStyles" Target="/ppt/tableStyles.xml" Id="R66b1d08faaba46b1" /><Relationship Type="http://schemas.openxmlformats.org/officeDocument/2006/relationships/slide" Target="/ppt/slides/slide1.xml" Id="Racd00c78374c4e0c" /><Relationship Type="http://schemas.openxmlformats.org/officeDocument/2006/relationships/slide" Target="/ppt/slides/slide2.xml" Id="R166bfd03659f4b99" /><Relationship Type="http://schemas.openxmlformats.org/officeDocument/2006/relationships/slide" Target="/ppt/slides/slide3.xml" Id="Rd45d65b810894089" /><Relationship Type="http://schemas.openxmlformats.org/officeDocument/2006/relationships/slide" Target="/ppt/slides/slide4.xml" Id="R1f538ae074304e3e" /><Relationship Type="http://schemas.openxmlformats.org/officeDocument/2006/relationships/slide" Target="/ppt/slides/slide5.xml" Id="Raa3f7fb8b10840bd" /><Relationship Type="http://schemas.openxmlformats.org/officeDocument/2006/relationships/slide" Target="/ppt/slides/slide6.xml" Id="Re1474d221a9b416a" /><Relationship Type="http://schemas.openxmlformats.org/officeDocument/2006/relationships/slide" Target="/ppt/slides/slide7.xml" Id="Rbf61dc41b6d641e1" /><Relationship Type="http://schemas.openxmlformats.org/officeDocument/2006/relationships/slide" Target="/ppt/slides/slide8.xml" Id="R81a54d502fc346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793cf8c43f48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5a3a9e410e41de" /><Relationship Type="http://schemas.openxmlformats.org/officeDocument/2006/relationships/notesMaster" Target="/ppt/notesMasters/notesMaster1.xml" Id="Rbf3e4ad4175a43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24aabe5a62462e" /><Relationship Type="http://schemas.openxmlformats.org/officeDocument/2006/relationships/notesMaster" Target="/ppt/notesMasters/notesMaster1.xml" Id="R4e5c4c622b8843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e49955a0c0401d" /><Relationship Type="http://schemas.openxmlformats.org/officeDocument/2006/relationships/notesMaster" Target="/ppt/notesMasters/notesMaster1.xml" Id="R4c10dd948bc34e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2e956f255e4710" /><Relationship Type="http://schemas.openxmlformats.org/officeDocument/2006/relationships/notesMaster" Target="/ppt/notesMasters/notesMaster1.xml" Id="Rfb9b18d25de246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5bf360a9e9420f" /><Relationship Type="http://schemas.openxmlformats.org/officeDocument/2006/relationships/notesMaster" Target="/ppt/notesMasters/notesMaster1.xml" Id="R72b7d533c69347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84f7ee4e4c413c" /><Relationship Type="http://schemas.openxmlformats.org/officeDocument/2006/relationships/notesMaster" Target="/ppt/notesMasters/notesMaster1.xml" Id="R5be6f1eb968a4f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9a4890c65a4bfc" /><Relationship Type="http://schemas.openxmlformats.org/officeDocument/2006/relationships/notesMaster" Target="/ppt/notesMasters/notesMaster1.xml" Id="R8a76607f1b8f4c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7f85b65f1c4a50" /><Relationship Type="http://schemas.openxmlformats.org/officeDocument/2006/relationships/notesMaster" Target="/ppt/notesMasters/notesMaster1.xml" Id="Rff1f4413ea2742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is a terminal Texas Hold'em game written in Python. I will introduce the project scope, hand flow, and hand evaluation, then run a sample hand. The game is one human player versus one computer.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first working checkpoint, not the complete game. It creates and shuffles the deck, deals two private cards to each player, and displays those cards.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this is the planned game flow. The current code only reaches the first step: shuffling the deck and dealing two private cards to each player.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this as a planned algorithm, not a feature in the current prototype. A later version will score every five-card combination and compare categories and kickers. A-2-3-4-5 will count as a five-high straight.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code that exists now: Card stores a rank and suit, Deck builds and shuffles cards, Player stores private cards, and TexasHoldemGame deals and displays them. Betting and hand evaluation are future modules.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this slide describes a possible future feature. The current prototype does not make betting decisions because betting has not been implemented.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program once. It will display the two dealt hands and stop; there are no action prompts in this first framework. Use the TODO list to introduce the next implementation steps.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actual milestone: the deck, shuffle, player objects, and private-card dealing now work. Betting, board cards, hand evaluation, and computer strategy are future work.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f259b15224c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415a340b524cad" /><Relationship Type="http://schemas.openxmlformats.org/officeDocument/2006/relationships/slideLayout" Target="/ppt/slideLayouts/slideLayout1.xml" Id="R76c031eeffb444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c031eeffb444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2bb10487042b9" /><Relationship Type="http://schemas.openxmlformats.org/officeDocument/2006/relationships/notesSlide" Target="/ppt/notesSlides/notesSlide1.xml" Id="R61e0cf01deff4c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5e6885ddd4b69" /><Relationship Type="http://schemas.openxmlformats.org/officeDocument/2006/relationships/notesSlide" Target="/ppt/notesSlides/notesSlide2.xml" Id="Re0fd254e33784e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5363b0a8d4a3c" /><Relationship Type="http://schemas.openxmlformats.org/officeDocument/2006/relationships/notesSlide" Target="/ppt/notesSlides/notesSlide3.xml" Id="Rcc09f4ff55f747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5f1f659434d52" /><Relationship Type="http://schemas.openxmlformats.org/officeDocument/2006/relationships/notesSlide" Target="/ppt/notesSlides/notesSlide4.xml" Id="R1d82042a399146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c9150cd084d00" /><Relationship Type="http://schemas.openxmlformats.org/officeDocument/2006/relationships/notesSlide" Target="/ppt/notesSlides/notesSlide5.xml" Id="Rba3aef2c278b40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5e4ed0b3b40c6" /><Relationship Type="http://schemas.openxmlformats.org/officeDocument/2006/relationships/notesSlide" Target="/ppt/notesSlides/notesSlide6.xml" Id="Rf51a7698db4c4b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d5d290e5746e6" /><Relationship Type="http://schemas.openxmlformats.org/officeDocument/2006/relationships/notesSlide" Target="/ppt/notesSlides/notesSlide7.xml" Id="Rc50554a169dd4a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ffd36a28746d3" /><Relationship Type="http://schemas.openxmlformats.org/officeDocument/2006/relationships/notesSlide" Target="/ppt/notesSlides/notesSlide8.xml" Id="R4a19e2b62f354c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35688-9F82-4A5F-BEE5-16A322BD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571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2DCDE-660C-4274-920D-BE6B84CD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1009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Texas Hold'em Terminal Game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46424-65B5-437C-A23F-2D0CF657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D8B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D8B86A"/>
                </a:solidFill>
                <a:latin typeface="Microsoft YaHei"/>
                <a:ea typeface="Microsoft YaHei"/>
                <a:cs typeface="Microsoft YaHei"/>
              </a:rPr>
              <a:t>Midterm Project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FACD1-FACB-48F1-8A55-6F7C377E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4EC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4ECE6"/>
                </a:solidFill>
                <a:latin typeface="Microsoft YaHei"/>
                <a:ea typeface="Microsoft YaHei"/>
                <a:cs typeface="Microsoft YaHei"/>
              </a:rPr>
              <a:t>Python Course Project    One Player vs. Computer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38E97-C903-4EFC-BCB7-E63D8B0E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3D2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3D2CA"/>
                </a:solidFill>
                <a:latin typeface="Microsoft YaHei"/>
                <a:ea typeface="Microsoft YaHei"/>
                <a:cs typeface="Microsoft YaHei"/>
              </a:rPr>
              <a:t>Very Early Framework</a:t>
            </a:r>
          </a:p>
        </p:txBody>
      </p:sp>
    </p:spTree>
    <p:extLst>
      <p:ext uri="{BB962C8B-B14F-4D97-AF65-F5344CB8AC3E}">
        <p14:creationId xmlns:p14="http://schemas.microsoft.com/office/powerpoint/2010/main" val="2021614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67A76-5545-43BD-A4FC-AB7FC030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Project Goals and Current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852BB-4319-45C5-9DCC-C2A83D1A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54403-0976-4B0F-BA5A-34CEDA3C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rPr>
              <a:t>Project Goal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7FF60-DB8E-4D49-80CC-4B699076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The goal is to build a complete heads-up Texas Hold'em game. This early prototype starts with the basics: creating a deck, shuffling it, and dealing private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C0197-E990-400F-AC37-4FB94748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rPr>
              <a:t>The project grows step by step as new Python concepts are learned and added.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EF455-4C21-41FB-9B0F-2D109662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190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79ADC-3E49-41EA-AE23-D385E2B8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rPr>
              <a:t>Current 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A67D6-8877-461D-9557-EC045F47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5143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Build and shuffle a 52-card deck</a:t>
            </a:r>
          </a:p>
          <a:p xmlns:a="http://schemas.openxmlformats.org/drawingml/2006/main">
            <a:pPr algn="l">
              <a:def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Deal two private cards to each player</a:t>
            </a:r>
          </a:p>
          <a:p xmlns:a="http://schemas.openxmlformats.org/drawingml/2006/main">
            <a:pPr algn="l">
              <a:def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Display each player's cards in the terminal</a:t>
            </a:r>
          </a:p>
          <a:p xmlns:a="http://schemas.openxmlformats.org/drawingml/2006/main">
            <a:pPr algn="l">
              <a:def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Use Card, Deck, Player, and Game classes</a:t>
            </a:r>
          </a:p>
          <a:p xmlns:a="http://schemas.openxmlformats.org/drawingml/2006/main">
            <a:pPr algn="l">
              <a:def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No betting or community cards yet</a:t>
            </a:r>
          </a:p>
          <a:p xmlns:a="http://schemas.openxmlformats.org/drawingml/2006/main">
            <a:pPr algn="l">
              <a:def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More features are future work</a:t>
            </a:r>
          </a:p>
        </p:txBody>
      </p:sp>
    </p:spTree>
    <p:extLst>
      <p:ext uri="{BB962C8B-B14F-4D97-AF65-F5344CB8AC3E}">
        <p14:creationId xmlns:p14="http://schemas.microsoft.com/office/powerpoint/2010/main" val="13450112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EC5290-52E3-4086-B293-0660CE34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Planned Hand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95D1F-8B5B-4852-BECF-062620B4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233B6-F6FE-4394-9590-73318682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06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rPr>
              <a:t>These are the planned stages for the full game. The current prototype stops after dealing the private cards.</a:t>
            </a:r>
          </a:p>
        </p:txBody>
      </p:sp>
      <p:sp>
        <p:nvSpPr>
          <p:cNvPr id="4" name="stage-1">
            <a:extLst xmlns:a="http://schemas.openxmlformats.org/drawingml/2006/main">
              <a:ext uri="{FF2B5EF4-FFF2-40B4-BE49-F238E27FC236}">
                <a16:creationId xmlns:a16="http://schemas.microsoft.com/office/drawing/2014/main" id="{3818DC4C-297B-4C86-B85B-9196E2DD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905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8"/>
          </a:solidFill>
          <a:ln xmlns:a="http://schemas.openxmlformats.org/drawingml/2006/main" w="14288">
            <a:solidFill>
              <a:srgbClr val="AFC3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D522F-3A45-4CC7-ACE1-5C6077DA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597B1-8D90-4695-BA04-39ECC0C0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Pre-flop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CCB91-C067-48F5-B0A5-59C3FBC2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1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rPr>
              <a:t>Deal two private cards</a:t>
            </a:r>
          </a:p>
          <a:p xmlns:a="http://schemas.openxmlformats.org/drawingml/2006/main">
            <a:pPr algn="l">
              <a:def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rPr>
              <a:t>Post blinds and bet</a:t>
            </a:r>
          </a:p>
        </p:txBody>
      </p:sp>
      <p:sp>
        <p:nvSpPr>
          <p:cNvPr id="8" name="stage-2">
            <a:extLst xmlns:a="http://schemas.openxmlformats.org/drawingml/2006/main">
              <a:ext uri="{FF2B5EF4-FFF2-40B4-BE49-F238E27FC236}">
                <a16:creationId xmlns:a16="http://schemas.microsoft.com/office/drawing/2014/main" id="{B2066A71-74C4-4770-9957-33F076B5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24100"/>
            <a:ext cx="1905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8"/>
          </a:solidFill>
          <a:ln xmlns:a="http://schemas.openxmlformats.org/drawingml/2006/main" w="14288">
            <a:solidFill>
              <a:srgbClr val="AFC3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A72C9-C974-4149-A068-FAB4639F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57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4B99B-6A71-423D-B3AC-8D5C04E2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813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Flop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65B59-39B6-4712-8D27-C88D7C4F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766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9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rPr>
              <a:t>Deal three</a:t>
            </a:r>
          </a:p>
          <a:p xmlns:a="http://schemas.openxmlformats.org/drawingml/2006/main">
            <a:pPr algn="l">
              <a:def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rPr>
              <a:t>community cards</a:t>
            </a:r>
          </a:p>
        </p:txBody>
      </p:sp>
      <p:sp>
        <p:nvSpPr>
          <p:cNvPr id="12" name="stage-3">
            <a:extLst xmlns:a="http://schemas.openxmlformats.org/drawingml/2006/main">
              <a:ext uri="{FF2B5EF4-FFF2-40B4-BE49-F238E27FC236}">
                <a16:creationId xmlns:a16="http://schemas.microsoft.com/office/drawing/2014/main" id="{FF8A7879-6A15-4537-819D-C1678639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1905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8"/>
          </a:solidFill>
          <a:ln xmlns:a="http://schemas.openxmlformats.org/drawingml/2006/main" w="14288">
            <a:solidFill>
              <a:srgbClr val="AFC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AAF78-756E-4A83-B513-9D64E964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61250-756F-48B2-BDCF-3B4DC652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Turn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F4A59-8CF2-42B3-BE3B-F3CCC203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rPr>
              <a:t>Deal one more</a:t>
            </a:r>
          </a:p>
          <a:p xmlns:a="http://schemas.openxmlformats.org/drawingml/2006/main">
            <a:pPr algn="l">
              <a:def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rPr>
              <a:t>community card</a:t>
            </a:r>
          </a:p>
        </p:txBody>
      </p:sp>
      <p:sp>
        <p:nvSpPr>
          <p:cNvPr id="16" name="stage-4">
            <a:extLst xmlns:a="http://schemas.openxmlformats.org/drawingml/2006/main">
              <a:ext uri="{FF2B5EF4-FFF2-40B4-BE49-F238E27FC236}">
                <a16:creationId xmlns:a16="http://schemas.microsoft.com/office/drawing/2014/main" id="{296647DB-D493-4E72-BFAD-642B2C6F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24100"/>
            <a:ext cx="1905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8"/>
          </a:solidFill>
          <a:ln xmlns:a="http://schemas.openxmlformats.org/drawingml/2006/main" w="14288">
            <a:solidFill>
              <a:srgbClr val="AFC3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63820E-FDCF-41F9-8BD2-13D9B6EF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57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C416A-261B-4ACC-9545-0760E17F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813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River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0F664-B959-42BF-ABBC-6980BA97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766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rPr>
              <a:t>Deal the final</a:t>
            </a:r>
          </a:p>
          <a:p xmlns:a="http://schemas.openxmlformats.org/drawingml/2006/main">
            <a:pPr algn="l">
              <a:def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rPr>
              <a:t>community card</a:t>
            </a:r>
          </a:p>
        </p:txBody>
      </p:sp>
      <p:sp>
        <p:nvSpPr>
          <p:cNvPr id="20" name="stage-5">
            <a:extLst xmlns:a="http://schemas.openxmlformats.org/drawingml/2006/main">
              <a:ext uri="{FF2B5EF4-FFF2-40B4-BE49-F238E27FC236}">
                <a16:creationId xmlns:a16="http://schemas.microsoft.com/office/drawing/2014/main" id="{212DFE6C-F16B-4BFF-A68E-A51EE8F4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24100"/>
            <a:ext cx="1905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2"/>
          </a:solidFill>
          <a:ln xmlns:a="http://schemas.openxmlformats.org/drawingml/2006/main" w="14288">
            <a:solidFill>
              <a:srgbClr val="163B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01D7E-8191-4CCA-9E45-D0595450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57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B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8B8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66FFD-7C9E-49FC-AB2C-A8A1015F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Showdown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13CCC6-B980-460C-9D22-E9BE166F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76600"/>
            <a:ext cx="1562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0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4EC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4ECE6"/>
                </a:solidFill>
                <a:latin typeface="Microsoft YaHei"/>
                <a:ea typeface="Microsoft YaHei"/>
                <a:cs typeface="Microsoft YaHei"/>
              </a:rPr>
              <a:t>Select the best five cards</a:t>
            </a:r>
          </a:p>
          <a:p xmlns:a="http://schemas.openxmlformats.org/drawingml/2006/main">
            <a:pPr algn="l">
              <a:defRPr sz="1500" b="0">
                <a:solidFill>
                  <a:srgbClr val="E4EC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4ECE6"/>
                </a:solidFill>
                <a:latin typeface="Microsoft YaHei"/>
                <a:ea typeface="Microsoft YaHei"/>
                <a:cs typeface="Microsoft YaHei"/>
              </a:rPr>
              <a:t>Compare hands and settle the pot</a:t>
            </a:r>
          </a:p>
        </p:txBody>
      </p:sp>
      <p:cxnSp>
        <p:nvCxnSpPr>
          <p:cNvPr id="52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90800" y="30670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56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829175" y="30670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56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067550" y="30670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56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305925" y="306705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656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38BBDE-1140-416F-BCF5-222932FF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The diagram shows the intended direction of the project. Betting and community cards have not been added to the current prototype yet.</a:t>
            </a:r>
          </a:p>
        </p:txBody>
      </p:sp>
    </p:spTree>
    <p:extLst>
      <p:ext uri="{BB962C8B-B14F-4D97-AF65-F5344CB8AC3E}">
        <p14:creationId xmlns:p14="http://schemas.microsoft.com/office/powerpoint/2010/main" val="644765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D1285-CE91-4DDA-9CE9-C36EEB46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Planned Hand Evaluation: Best Five from Seven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C3858-6B9B-4FFE-8E6C-513FD192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B3AE5-7793-4866-9176-2AD64BCF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rPr>
              <a:t>C(7, 5) = 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FD37A-BFF9-4378-ADCF-73DBB00C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143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A future evaluator will score all 21 five-card combinations and keep the strongest hand.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2CB0D-E436-4580-A36B-4D2E09AE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145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846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rPr>
              <a:t>Hand Categories, Weakest to Strongest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B91EA-F1A5-4808-983F-B9B7C840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38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01  High Card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E6B7D-3093-468B-9629-0E7E510E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384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02  One 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2813F-1D93-4523-82AD-0F35303F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38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03  Two Pair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11A82-3500-4E3B-B82B-EA532F15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385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04  Three of a Kind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44F14-CF68-444E-9DB0-52295262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385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05  Straight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D5B2A-C51B-4FE7-AA26-71F2EF0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06  Flush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C01AC-26B5-4CBA-B5DF-2EF3AFB0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3842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07  Full House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57AD0-F4DF-4060-BF57-D1790F9E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3847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08  Four of a Kind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F6775-CB36-4A1C-901C-CFB7CE20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38525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09  Straight Flush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28D72-8538-4210-8341-F7FB5305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0439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45CAF-EF42-4CA7-B9C5-228E2090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159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rPr>
              <a:t>Example Score (Planned)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CCE2C-0FDB-459A-A36C-344C78A8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815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C302B"/>
                </a:solidFill>
                <a:latin typeface="Consolas"/>
                <a:ea typeface="Consolas"/>
                <a:cs typeface="Consolas"/>
              </a:defRPr>
            </a:pPr>
            <a:r>
              <a:rPr sz="2175" b="1">
                <a:solidFill>
                  <a:srgbClr val="1C302B"/>
                </a:solidFill>
                <a:latin typeface="Consolas"/>
                <a:ea typeface="Consolas"/>
                <a:cs typeface="Consolas"/>
              </a:rPr>
              <a:t>(1, 14, 13, 8, 3)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99202-D196-4406-8410-5F6E7C21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386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A future score tuple can represent a pair of Aces and its K, 8, and 3 kickers.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E604A-A86B-4831-B37B-10BEF8C7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95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rPr>
              <a:t>A-2-3-4-5 is also a straight; in this case, Ace counts as the lowest rank.</a:t>
            </a:r>
          </a:p>
        </p:txBody>
      </p:sp>
    </p:spTree>
    <p:extLst>
      <p:ext uri="{BB962C8B-B14F-4D97-AF65-F5344CB8AC3E}">
        <p14:creationId xmlns:p14="http://schemas.microsoft.com/office/powerpoint/2010/main" val="798325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2C6F2-F949-44A4-822E-54C4E731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Current Framework and Planned Modules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9782E-6221-4EA3-9FB2-8AB515D6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5F324-79B9-4DB4-9C06-E1E8891F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00200"/>
            <a:ext cx="6629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32"/>
          </a:solidFill>
          <a:ln xmlns:a="http://schemas.openxmlformats.org/drawingml/2006/main" w="9525">
            <a:solidFill>
              <a:srgbClr val="163B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13E54-2615-46BC-B95E-0FCFA24E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09750"/>
            <a:ext cx="617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58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TexasHoldemGame  start the first dealing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8AE0C-A0DB-4FFC-9F81-35B83675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3143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C9D2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77D98-A3E0-4AF4-BD0F-FBBEE481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rPr>
              <a:t>Card /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AFA9E-68BF-407B-ACCE-6B0C64DD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Build a 52-card deck</a:t>
            </a:r>
          </a:p>
          <a:p xmlns:a="http://schemas.openxmlformats.org/drawingml/2006/main">
            <a:pPr algn="l">
              <a:defRPr sz="165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Shuffle and deal cards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1D9B5-F943-45EF-8846-4B2EB0C5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52800"/>
            <a:ext cx="3143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C9D2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1B599-DEF0-4E39-B0A4-1A047EB3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rPr>
              <a:t>Player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7F4B4-617A-4B42-8FCD-3BA31530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57650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Store a name and two private cards</a:t>
            </a:r>
          </a:p>
          <a:p xmlns:a="http://schemas.openxmlformats.org/drawingml/2006/main">
            <a:pPr algn="l">
              <a:defRPr sz="165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No computer strategy yet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46CA21-3CBB-4277-ACAF-A07B449F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3143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C9D2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2C5A8-7C1E-44AE-85F1-D9A43EFE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433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rPr>
              <a:t>Planned next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A10F8-E912-437C-8EA9-266C7AC5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57650"/>
            <a:ext cx="276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Add hand evaluation</a:t>
            </a:r>
          </a:p>
          <a:p xmlns:a="http://schemas.openxmlformats.org/drawingml/2006/main">
            <a:pPr algn="l">
              <a:defRPr sz="165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Compare hands and settle the pot</a:t>
            </a:r>
          </a:p>
        </p:txBody>
      </p:sp>
      <p:cxnSp>
        <p:nvCxnSpPr>
          <p:cNvPr id="31" name=""/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352675" y="2419350"/>
            <a:ext cx="374332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F6656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3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419350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F6656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3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2419350"/>
            <a:ext cx="374332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F6656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14CDF-8AB4-445A-B4D1-AE7D5320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F716B"/>
                </a:solidFill>
                <a:latin typeface="Microsoft YaHei"/>
                <a:ea typeface="Microsoft YaHei"/>
                <a:cs typeface="Microsoft YaHei"/>
              </a:rPr>
              <a:t>Used so far: classes, objects, lists, loops, conditionals, and random.shuffle. Next: add the betting flow and hand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1968845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254ED-E745-45BE-B31B-E1C309D3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Future Idea: Computer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1F70B-70F4-498D-AC7F-0722600B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C9D64-ADE1-4FDB-B44A-6B59AC2D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rPr>
              <a:t>Hand-Strength Estimate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AE247-F382-4914-AEE2-266DF410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A later computer player could estimate starting-hand strength before the Flop.</a:t>
            </a:r>
          </a:p>
          <a:p xmlns:a="http://schemas.openxmlformats.org/drawingml/2006/main">
            <a:pPr algn="l">
              <a:def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After the Flop, it could use the best-five hand category.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C0CA1-CA2A-4635-88C2-9C527DAF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52600"/>
            <a:ext cx="190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F5385-DFF2-4CF8-8386-32A06A33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rPr>
              <a:t>Cost to 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D8C51-5828-4268-A982-50FCF924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860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Pot odds = call amount ÷ (current pot + call amount)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10EF3-344F-439A-A5EF-327CF1D4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A later version could use pot odds to choose whether to call or fold, with some randomness in its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AC2D9-90EA-4C63-AF24-B2BD1B3A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rPr>
              <a:t>This is only a future design idea. The current prototype has no computer strategy.</a:t>
            </a:r>
          </a:p>
        </p:txBody>
      </p:sp>
    </p:spTree>
    <p:extLst>
      <p:ext uri="{BB962C8B-B14F-4D97-AF65-F5344CB8AC3E}">
        <p14:creationId xmlns:p14="http://schemas.microsoft.com/office/powerpoint/2010/main" val="11774925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6F96D-0209-4F01-89D6-99717F7E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Live Demo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93ED4-3E56-444E-8B88-236059CD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8A394-4D07-469E-9B6A-80A5FC73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97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6656"/>
                </a:solidFill>
                <a:latin typeface="Microsoft YaHei"/>
                <a:ea typeface="Microsoft YaHei"/>
                <a:cs typeface="Microsoft YaHei"/>
              </a:rPr>
              <a:t>Run the Program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A7D90-4616-4341-B703-E37450B7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10553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26"/>
          </a:solidFill>
          <a:ln xmlns:a="http://schemas.openxmlformats.org/drawingml/2006/main" w="9525">
            <a:solidFill>
              <a:srgbClr val="102B2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EAE4E-954F-414D-A91E-A77B4263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979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DF8"/>
                </a:solidFill>
                <a:latin typeface="Consolas"/>
                <a:ea typeface="Consolas"/>
                <a:cs typeface="Consolas"/>
              </a:defRPr>
            </a:pPr>
            <a:r>
              <a:rPr sz="1950" b="1">
                <a:solidFill>
                  <a:srgbClr val="FFFDF8"/>
                </a:solidFill>
                <a:latin typeface="Consolas"/>
                <a:ea typeface="Consolas"/>
                <a:cs typeface="Consolas"/>
              </a:rPr>
              <a:t>py -3 texas_holdem_midterm.py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56566-A7F6-4F97-BE01-0074C950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8EA0D-31C9-499C-9A9D-E75FC6DC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38500"/>
            <a:ext cx="976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89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Show that the program creates and shuffles a 52-card deck, then deals two cards to each player.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09A07-CDB7-4F8B-98A3-F3B8A9AF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5AEE3D-BC1E-4EB1-8F30-3E387DB5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43350"/>
            <a:ext cx="976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Point out the Card, Deck, Player, and TexasHoldemGame classes in the source code.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739D3-31E0-4677-BAF5-956AEF4C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63ABC-0747-41F4-A137-DF3FD112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48200"/>
            <a:ext cx="976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Show the two private cards and the number of cards remaining in the deck.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51541-B1FA-42C9-8316-179E80F4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7473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D9970-8451-4ED7-A9FD-AFE79E14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53050"/>
            <a:ext cx="9763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C302B"/>
                </a:solidFill>
                <a:latin typeface="Microsoft YaHei"/>
                <a:ea typeface="Microsoft YaHei"/>
                <a:cs typeface="Microsoft YaHei"/>
              </a:rPr>
              <a:t>Explain which parts are TODO items: blinds, betting, community cards, and hand comparison.</a:t>
            </a:r>
          </a:p>
        </p:txBody>
      </p:sp>
    </p:spTree>
    <p:extLst>
      <p:ext uri="{BB962C8B-B14F-4D97-AF65-F5344CB8AC3E}">
        <p14:creationId xmlns:p14="http://schemas.microsoft.com/office/powerpoint/2010/main" val="16768490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3B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3F294-B86C-4782-963F-91FA603D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Midterm Progress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B217C-E345-4BC2-9DC3-59A2E7E8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B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05104-D2FB-41B2-9322-90A2BB1F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8B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8B86A"/>
                </a:solidFill>
                <a:latin typeface="Microsoft YaHei"/>
                <a:ea typeface="Microsoft YaHei"/>
                <a:cs typeface="Microsoft YaHei"/>
              </a:rPr>
              <a:t>Current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5615A-6584-4027-AE70-A865CB9F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4667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The program creates and shuffles a 52-card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It deals two private cards to each player and displays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The code is organized into Card, Deck, Player, and TexasHoldemGame classes.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0EAA2-8A73-44F2-AAA1-227631D5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288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7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517C2-F6CC-4B08-A1B2-E732DF29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288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8B8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D8B86A"/>
                </a:solidFill>
                <a:latin typeface="Microsoft YaHei"/>
                <a:ea typeface="Microsoft YaHei"/>
                <a:cs typeface="Microsoft YaHei"/>
              </a:rPr>
              <a:t>Next Steps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69D2B-267A-4559-BB20-2BE4AACE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762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Add chips and blinds, then implement betting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Deal the Flop, Turn, and River; evaluate hands and settle the pot.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DF8"/>
                </a:solidFill>
                <a:latin typeface="Microsoft YaHei"/>
                <a:ea typeface="Microsoft YaHei"/>
                <a:cs typeface="Microsoft YaHei"/>
              </a:rPr>
              <a:t>Add computer decisions after the human-versus-computer game flow works.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DC899-4F0B-4712-BFD3-77738880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864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5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3E0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3E0D8"/>
                </a:solidFill>
                <a:latin typeface="Microsoft YaHei"/>
                <a:ea typeface="Microsoft YaHei"/>
                <a:cs typeface="Microsoft YaHei"/>
              </a:rPr>
              <a:t>Presentation order: run the card-dealing prototype, explain its classes, then outline the planned features.</a:t>
            </a:r>
          </a:p>
        </p:txBody>
      </p:sp>
    </p:spTree>
    <p:extLst>
      <p:ext uri="{BB962C8B-B14F-4D97-AF65-F5344CB8AC3E}">
        <p14:creationId xmlns:p14="http://schemas.microsoft.com/office/powerpoint/2010/main" val="1892896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2026-09-29T05:41:36.7430000Z</dcterms:created>
  <dcterms:modified xsi:type="dcterms:W3CDTF">2026-09-29T05:41:36.7440000Z</dcterms:modified>
</coreProperties>
</file>