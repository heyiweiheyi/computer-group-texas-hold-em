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Opening: This is a terminal Texas Hold'em game written in Python. I will introduce the project scope, hand flow, and hand evaluation, then run a sample hand. The game is one human player versus one computer.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first working checkpoint, not the complete game. It creates and shuffles the deck, deals two private cards to each player, and displays those cards.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this is the planned game flow. The current code only reaches the first step: shuffling the deck and dealing two private cards to each player.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Describe this as a planned algorithm, not a feature in the current prototype. A later version will score every five-card combination and compare categories and kickers. A-2-3-4-5 will count as a five-high straight.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code that exists now: Card stores a rank and suit, Deck builds and shuffles cards, Player stores private cards, and TexasHoldemGame deals and displays them. Betting and hand evaluation are future modules.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this slide describes a possible future feature. The current prototype does not make betting decisions because betting has not been implemented.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the program once. It will display the two dealt hands and stop; there are no action prompts in this first framework. Use the TODO list to introduce the next implementation steps.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Summarize the actual milestone: the deck, shuffle, player objects, and private-card dealing now work. Betting, board cards, hand evaluation, and computer strategy are future work.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135688-9F82-4A5F-BEE5-16A322BD8873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57150" cy="31623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42DCDE-660C-4274-920D-BE6B84CD9378}"/>
              </a:ext>
            </a:extLst>
          </p:cNvPr>
          <p:cNvSpPr>
            <a:spLocks noGrp="1"/>
          </p:cNvSpPr>
          <p:nvPr/>
        </p:nvSpPr>
        <p:spPr>
          <a:xfrm>
            <a:off x="1066800" y="1504950"/>
            <a:ext cx="10096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405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Texas Hold'em Terminal Game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846424-65B5-437C-A23F-2D0CF6578C2C}"/>
              </a:ext>
            </a:extLst>
          </p:cNvPr>
          <p:cNvSpPr>
            <a:spLocks noGrp="1"/>
          </p:cNvSpPr>
          <p:nvPr/>
        </p:nvSpPr>
        <p:spPr>
          <a:xfrm>
            <a:off x="1104900" y="2724150"/>
            <a:ext cx="704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700" b="0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rPr>
              <a:t>Midterm Project Report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2FACD1-FACB-48F1-8A55-6F7C377E8C03}"/>
              </a:ext>
            </a:extLst>
          </p:cNvPr>
          <p:cNvSpPr>
            <a:spLocks noGrp="1"/>
          </p:cNvSpPr>
          <p:nvPr/>
        </p:nvSpPr>
        <p:spPr>
          <a:xfrm>
            <a:off x="1104900" y="3638550"/>
            <a:ext cx="8572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rPr>
              <a:t>Python Course Project    One Player vs. Computer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38E97-C903-4EFC-BCB7-E63D8B0EA984}"/>
              </a:ext>
            </a:extLst>
          </p:cNvPr>
          <p:cNvSpPr>
            <a:spLocks noGrp="1"/>
          </p:cNvSpPr>
          <p:nvPr/>
        </p:nvSpPr>
        <p:spPr>
          <a:xfrm>
            <a:off x="1104900" y="4953000"/>
            <a:ext cx="571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C3D2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C3D2CA"/>
                </a:solidFill>
                <a:latin typeface="Microsoft YaHei"/>
                <a:ea typeface="Microsoft YaHei"/>
                <a:cs typeface="Microsoft YaHei"/>
              </a:rPr>
              <a:t>Very Early Framework</a:t>
            </a:r>
          </a:p>
        </p:txBody>
      </p:sp>
    </p:spTree>
    <p:extLst>
      <p:ext uri="{BB962C8B-B14F-4D97-AF65-F5344CB8AC3E}">
        <p14:creationId xmlns:p14="http://schemas.microsoft.com/office/powerpoint/2010/main" val="2021614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F267A76-5545-43BD-A4FC-AB7FC0307AC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Project Goals and Current Prototype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D852BB-4319-45C5-9DCC-C2A83D1A0B45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854403-0976-4B0F-BA5A-34CEDA3C164B}"/>
              </a:ext>
            </a:extLst>
          </p:cNvPr>
          <p:cNvSpPr>
            <a:spLocks noGrp="1"/>
          </p:cNvSpPr>
          <p:nvPr/>
        </p:nvSpPr>
        <p:spPr>
          <a:xfrm>
            <a:off x="800100" y="1752600"/>
            <a:ext cx="4095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Project Goal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17FF60-DB8E-4D49-80CC-4B699076C11B}"/>
              </a:ext>
            </a:extLst>
          </p:cNvPr>
          <p:cNvSpPr>
            <a:spLocks noGrp="1"/>
          </p:cNvSpPr>
          <p:nvPr/>
        </p:nvSpPr>
        <p:spPr>
          <a:xfrm>
            <a:off x="800100" y="2266950"/>
            <a:ext cx="4476750" cy="2333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The goal is to build a complete heads-up Texas Hold'em game. This early prototype starts with the basics: creating a deck, shuffling it, and dealing private cards.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DC0197-E990-400F-AC37-4FB9474863D8}"/>
              </a:ext>
            </a:extLst>
          </p:cNvPr>
          <p:cNvSpPr>
            <a:spLocks noGrp="1"/>
          </p:cNvSpPr>
          <p:nvPr/>
        </p:nvSpPr>
        <p:spPr>
          <a:xfrm>
            <a:off x="800100" y="4857750"/>
            <a:ext cx="4476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The project grows step by step as new Python concepts are learned and added.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2EF455-4C21-41FB-9B0F-2D109662AE34}"/>
              </a:ext>
            </a:extLst>
          </p:cNvPr>
          <p:cNvSpPr>
            <a:spLocks noGrp="1"/>
          </p:cNvSpPr>
          <p:nvPr/>
        </p:nvSpPr>
        <p:spPr>
          <a:xfrm>
            <a:off x="5829300" y="1752600"/>
            <a:ext cx="19050" cy="4057650"/>
          </a:xfrm>
          <a:prstGeom prst="rect">
            <a:avLst/>
          </a:prstGeom>
          <a:solidFill>
            <a:srgbClr val="C9D2CB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D79ADC-3E49-41EA-AE23-D385E2B83C7C}"/>
              </a:ext>
            </a:extLst>
          </p:cNvPr>
          <p:cNvSpPr>
            <a:spLocks noGrp="1"/>
          </p:cNvSpPr>
          <p:nvPr/>
        </p:nvSpPr>
        <p:spPr>
          <a:xfrm>
            <a:off x="6286500" y="1752600"/>
            <a:ext cx="4667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Current Prototype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EA67D6-8877-461D-9557-EC045F4781F5}"/>
              </a:ext>
            </a:extLst>
          </p:cNvPr>
          <p:cNvSpPr>
            <a:spLocks noGrp="1"/>
          </p:cNvSpPr>
          <p:nvPr/>
        </p:nvSpPr>
        <p:spPr>
          <a:xfrm>
            <a:off x="6286500" y="2266950"/>
            <a:ext cx="5143500" cy="3429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Build and shuffle a 52-card deck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Deal two private cards to each player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Display each player's cards in the terminal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Use Card, Deck, Player, and Game classes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No betting or community cards yet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More features are future work</a:t>
            </a:r>
          </a:p>
        </p:txBody>
      </p:sp>
    </p:spTree>
    <p:extLst>
      <p:ext uri="{BB962C8B-B14F-4D97-AF65-F5344CB8AC3E}">
        <p14:creationId xmlns:p14="http://schemas.microsoft.com/office/powerpoint/2010/main" val="1345011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12EC5290-52E3-4086-B293-0660CE346EF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Planned Hand Flow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295D1F-8B5B-4852-BECF-062620B41787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A233B6-F6FE-4394-9590-733186821E16}"/>
              </a:ext>
            </a:extLst>
          </p:cNvPr>
          <p:cNvSpPr>
            <a:spLocks noGrp="1"/>
          </p:cNvSpPr>
          <p:nvPr/>
        </p:nvSpPr>
        <p:spPr>
          <a:xfrm>
            <a:off x="742950" y="1543050"/>
            <a:ext cx="1066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1206"/>
          </a:bodyPr>
          <a:lstStyle/>
          <a:p>
            <a:pPr algn="l">
              <a:defRPr sz="18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These are the planned stages for the full game. The current prototype stops after dealing the private cards.</a:t>
            </a:r>
          </a:p>
        </p:txBody>
      </p:sp>
      <p:sp>
        <p:nvSpPr>
          <p:cNvPr id="4" name="stage-1">
            <a:extLst>
              <a:ext uri="{FF2B5EF4-FFF2-40B4-BE49-F238E27FC236}">
                <a16:creationId xmlns:a16="http://schemas.microsoft.com/office/drawing/2014/main" id="{3818DC4C-297B-4C86-B85B-9196E2DD50AF}"/>
              </a:ext>
            </a:extLst>
          </p:cNvPr>
          <p:cNvSpPr>
            <a:spLocks noGrp="1"/>
          </p:cNvSpPr>
          <p:nvPr/>
        </p:nvSpPr>
        <p:spPr>
          <a:xfrm>
            <a:off x="685800" y="2324100"/>
            <a:ext cx="1905000" cy="1485900"/>
          </a:xfrm>
          <a:prstGeom prst="rect">
            <a:avLst/>
          </a:prstGeom>
          <a:solidFill>
            <a:srgbClr val="E4EEE8"/>
          </a:solidFill>
          <a:ln w="14288">
            <a:solidFill>
              <a:srgbClr val="AFC3B8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FD522F-3A45-4CC7-ACE1-5C6077DABB66}"/>
              </a:ext>
            </a:extLst>
          </p:cNvPr>
          <p:cNvSpPr>
            <a:spLocks noGrp="1"/>
          </p:cNvSpPr>
          <p:nvPr/>
        </p:nvSpPr>
        <p:spPr>
          <a:xfrm>
            <a:off x="857250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97B1-8D90-4695-BA04-39ECC0C09BBD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Pre-flop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2CCB91-C067-48F5-B0A5-59C3FBC25597}"/>
              </a:ext>
            </a:extLst>
          </p:cNvPr>
          <p:cNvSpPr>
            <a:spLocks noGrp="1"/>
          </p:cNvSpPr>
          <p:nvPr/>
        </p:nvSpPr>
        <p:spPr>
          <a:xfrm>
            <a:off x="857250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7122"/>
          </a:bodyPr>
          <a:lstStyle/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Deal two private cards</a:t>
            </a:r>
          </a:p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Post blinds and bet</a:t>
            </a:r>
          </a:p>
        </p:txBody>
      </p:sp>
      <p:sp>
        <p:nvSpPr>
          <p:cNvPr id="8" name="stage-2">
            <a:extLst>
              <a:ext uri="{FF2B5EF4-FFF2-40B4-BE49-F238E27FC236}">
                <a16:creationId xmlns:a16="http://schemas.microsoft.com/office/drawing/2014/main" id="{B2066A71-74C4-4770-9957-33F076B5981E}"/>
              </a:ext>
            </a:extLst>
          </p:cNvPr>
          <p:cNvSpPr>
            <a:spLocks noGrp="1"/>
          </p:cNvSpPr>
          <p:nvPr/>
        </p:nvSpPr>
        <p:spPr>
          <a:xfrm>
            <a:off x="2924175" y="2324100"/>
            <a:ext cx="1905000" cy="1485900"/>
          </a:xfrm>
          <a:prstGeom prst="rect">
            <a:avLst/>
          </a:prstGeom>
          <a:solidFill>
            <a:srgbClr val="E4EEE8"/>
          </a:solidFill>
          <a:ln w="14288">
            <a:solidFill>
              <a:srgbClr val="AFC3B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8A72C9-C974-4149-A068-FAB4639F8EFD}"/>
              </a:ext>
            </a:extLst>
          </p:cNvPr>
          <p:cNvSpPr>
            <a:spLocks noGrp="1"/>
          </p:cNvSpPr>
          <p:nvPr/>
        </p:nvSpPr>
        <p:spPr>
          <a:xfrm>
            <a:off x="3095625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44B99B-6A71-423D-B3AC-8D5C04E2C6D0}"/>
              </a:ext>
            </a:extLst>
          </p:cNvPr>
          <p:cNvSpPr>
            <a:spLocks noGrp="1"/>
          </p:cNvSpPr>
          <p:nvPr/>
        </p:nvSpPr>
        <p:spPr>
          <a:xfrm>
            <a:off x="3095625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Flop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C65B59-39B6-4712-8D27-C88D7C4FE53B}"/>
              </a:ext>
            </a:extLst>
          </p:cNvPr>
          <p:cNvSpPr>
            <a:spLocks noGrp="1"/>
          </p:cNvSpPr>
          <p:nvPr/>
        </p:nvSpPr>
        <p:spPr>
          <a:xfrm>
            <a:off x="3095625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92"/>
          </a:bodyPr>
          <a:lstStyle/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Deal three</a:t>
            </a:r>
          </a:p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community cards</a:t>
            </a:r>
          </a:p>
        </p:txBody>
      </p:sp>
      <p:sp>
        <p:nvSpPr>
          <p:cNvPr id="12" name="stage-3">
            <a:extLst>
              <a:ext uri="{FF2B5EF4-FFF2-40B4-BE49-F238E27FC236}">
                <a16:creationId xmlns:a16="http://schemas.microsoft.com/office/drawing/2014/main" id="{FF8A7879-6A15-4537-819D-C1678639FE3E}"/>
              </a:ext>
            </a:extLst>
          </p:cNvPr>
          <p:cNvSpPr>
            <a:spLocks noGrp="1"/>
          </p:cNvSpPr>
          <p:nvPr/>
        </p:nvSpPr>
        <p:spPr>
          <a:xfrm>
            <a:off x="5162550" y="2324100"/>
            <a:ext cx="1905000" cy="1485900"/>
          </a:xfrm>
          <a:prstGeom prst="rect">
            <a:avLst/>
          </a:prstGeom>
          <a:solidFill>
            <a:srgbClr val="E4EEE8"/>
          </a:solidFill>
          <a:ln w="14288">
            <a:solidFill>
              <a:srgbClr val="AFC3B8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6AAF78-756E-4A83-B513-9D64E9641743}"/>
              </a:ext>
            </a:extLst>
          </p:cNvPr>
          <p:cNvSpPr>
            <a:spLocks noGrp="1"/>
          </p:cNvSpPr>
          <p:nvPr/>
        </p:nvSpPr>
        <p:spPr>
          <a:xfrm>
            <a:off x="5334000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161250-756F-48B2-BDCF-3B4DC6522BFC}"/>
              </a:ext>
            </a:extLst>
          </p:cNvPr>
          <p:cNvSpPr>
            <a:spLocks noGrp="1"/>
          </p:cNvSpPr>
          <p:nvPr/>
        </p:nvSpPr>
        <p:spPr>
          <a:xfrm>
            <a:off x="5334000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Turn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8F4A59-8CF2-42B3-BE3B-F3CCC203AA4A}"/>
              </a:ext>
            </a:extLst>
          </p:cNvPr>
          <p:cNvSpPr>
            <a:spLocks noGrp="1"/>
          </p:cNvSpPr>
          <p:nvPr/>
        </p:nvSpPr>
        <p:spPr>
          <a:xfrm>
            <a:off x="5334000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Deal one more</a:t>
            </a:r>
          </a:p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community card</a:t>
            </a:r>
          </a:p>
        </p:txBody>
      </p:sp>
      <p:sp>
        <p:nvSpPr>
          <p:cNvPr id="16" name="stage-4">
            <a:extLst>
              <a:ext uri="{FF2B5EF4-FFF2-40B4-BE49-F238E27FC236}">
                <a16:creationId xmlns:a16="http://schemas.microsoft.com/office/drawing/2014/main" id="{296647DB-D493-4E72-BFAD-642B2C6F2500}"/>
              </a:ext>
            </a:extLst>
          </p:cNvPr>
          <p:cNvSpPr>
            <a:spLocks noGrp="1"/>
          </p:cNvSpPr>
          <p:nvPr/>
        </p:nvSpPr>
        <p:spPr>
          <a:xfrm>
            <a:off x="7400925" y="2324100"/>
            <a:ext cx="1905000" cy="1485900"/>
          </a:xfrm>
          <a:prstGeom prst="rect">
            <a:avLst/>
          </a:prstGeom>
          <a:solidFill>
            <a:srgbClr val="E4EEE8"/>
          </a:solidFill>
          <a:ln w="14288">
            <a:solidFill>
              <a:srgbClr val="AFC3B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63820E-FDCF-41F9-8BD2-13D9B6EF91FE}"/>
              </a:ext>
            </a:extLst>
          </p:cNvPr>
          <p:cNvSpPr>
            <a:spLocks noGrp="1"/>
          </p:cNvSpPr>
          <p:nvPr/>
        </p:nvSpPr>
        <p:spPr>
          <a:xfrm>
            <a:off x="7572375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EC416A-261B-4ACC-9545-0760E17F44F5}"/>
              </a:ext>
            </a:extLst>
          </p:cNvPr>
          <p:cNvSpPr>
            <a:spLocks noGrp="1"/>
          </p:cNvSpPr>
          <p:nvPr/>
        </p:nvSpPr>
        <p:spPr>
          <a:xfrm>
            <a:off x="7572375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River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6B0F664-B959-42BF-ABBC-6980BA9782C7}"/>
              </a:ext>
            </a:extLst>
          </p:cNvPr>
          <p:cNvSpPr>
            <a:spLocks noGrp="1"/>
          </p:cNvSpPr>
          <p:nvPr/>
        </p:nvSpPr>
        <p:spPr>
          <a:xfrm>
            <a:off x="7572375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Deal the final</a:t>
            </a:r>
          </a:p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community card</a:t>
            </a:r>
          </a:p>
        </p:txBody>
      </p:sp>
      <p:sp>
        <p:nvSpPr>
          <p:cNvPr id="20" name="stage-5">
            <a:extLst>
              <a:ext uri="{FF2B5EF4-FFF2-40B4-BE49-F238E27FC236}">
                <a16:creationId xmlns:a16="http://schemas.microsoft.com/office/drawing/2014/main" id="{212DFE6C-F16B-4BFF-A68E-A51EE8F49179}"/>
              </a:ext>
            </a:extLst>
          </p:cNvPr>
          <p:cNvSpPr>
            <a:spLocks noGrp="1"/>
          </p:cNvSpPr>
          <p:nvPr/>
        </p:nvSpPr>
        <p:spPr>
          <a:xfrm>
            <a:off x="9639300" y="2324100"/>
            <a:ext cx="1905000" cy="1485900"/>
          </a:xfrm>
          <a:prstGeom prst="rect">
            <a:avLst/>
          </a:prstGeom>
          <a:solidFill>
            <a:srgbClr val="163B32"/>
          </a:solidFill>
          <a:ln w="14288">
            <a:solidFill>
              <a:srgbClr val="163B32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201D7E-8191-4CCA-9E45-D0595450DBE7}"/>
              </a:ext>
            </a:extLst>
          </p:cNvPr>
          <p:cNvSpPr>
            <a:spLocks noGrp="1"/>
          </p:cNvSpPr>
          <p:nvPr/>
        </p:nvSpPr>
        <p:spPr>
          <a:xfrm>
            <a:off x="9810750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866FFD-7C9E-49FC-AB2C-A8A1015F6494}"/>
              </a:ext>
            </a:extLst>
          </p:cNvPr>
          <p:cNvSpPr>
            <a:spLocks noGrp="1"/>
          </p:cNvSpPr>
          <p:nvPr/>
        </p:nvSpPr>
        <p:spPr>
          <a:xfrm>
            <a:off x="9810750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Showdown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13CCC6-B980-460C-9D22-E9BE166F7FE0}"/>
              </a:ext>
            </a:extLst>
          </p:cNvPr>
          <p:cNvSpPr>
            <a:spLocks noGrp="1"/>
          </p:cNvSpPr>
          <p:nvPr/>
        </p:nvSpPr>
        <p:spPr>
          <a:xfrm>
            <a:off x="9810750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9027"/>
          </a:bodyPr>
          <a:lstStyle/>
          <a:p>
            <a:pPr algn="l">
              <a:defRPr sz="150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rPr>
              <a:t>Select the best five cards</a:t>
            </a:r>
          </a:p>
          <a:p>
            <a:pPr algn="l">
              <a:defRPr sz="150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rPr>
              <a:t>Compare hands and settle the pot</a:t>
            </a:r>
          </a:p>
        </p:txBody>
      </p:sp>
      <p:cxnSp>
        <p:nvCxnSpPr>
          <p:cNvPr id="52" name="Straight Arrow Connector 51"/>
          <p:cNvCxnSpPr>
            <a:stCxn id="4" idx="3"/>
            <a:endCxn id="8" idx="1"/>
          </p:cNvCxnSpPr>
          <p:nvPr/>
        </p:nvCxnSpPr>
        <p:spPr>
          <a:xfrm>
            <a:off x="2590800" y="3067050"/>
            <a:ext cx="333375" cy="0"/>
          </a:xfrm>
          <a:prstGeom prst="straightConnector1">
            <a:avLst/>
          </a:prstGeom>
          <a:ln w="19050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53" name="Straight Arrow Connector 52"/>
          <p:cNvCxnSpPr>
            <a:stCxn id="8" idx="3"/>
            <a:endCxn id="12" idx="1"/>
          </p:cNvCxnSpPr>
          <p:nvPr/>
        </p:nvCxnSpPr>
        <p:spPr>
          <a:xfrm>
            <a:off x="4829175" y="3067050"/>
            <a:ext cx="333375" cy="0"/>
          </a:xfrm>
          <a:prstGeom prst="straightConnector1">
            <a:avLst/>
          </a:prstGeom>
          <a:ln w="19050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54" name="Straight Arrow Connector 53"/>
          <p:cNvCxnSpPr>
            <a:stCxn id="12" idx="3"/>
            <a:endCxn id="16" idx="1"/>
          </p:cNvCxnSpPr>
          <p:nvPr/>
        </p:nvCxnSpPr>
        <p:spPr>
          <a:xfrm>
            <a:off x="7067550" y="3067050"/>
            <a:ext cx="333375" cy="0"/>
          </a:xfrm>
          <a:prstGeom prst="straightConnector1">
            <a:avLst/>
          </a:prstGeom>
          <a:ln w="19050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55" name="Straight Arrow Connector 54"/>
          <p:cNvCxnSpPr>
            <a:stCxn id="16" idx="3"/>
            <a:endCxn id="20" idx="1"/>
          </p:cNvCxnSpPr>
          <p:nvPr/>
        </p:nvCxnSpPr>
        <p:spPr>
          <a:xfrm>
            <a:off x="9305925" y="3067050"/>
            <a:ext cx="333375" cy="0"/>
          </a:xfrm>
          <a:prstGeom prst="straightConnector1">
            <a:avLst/>
          </a:prstGeom>
          <a:ln w="19050">
            <a:solidFill>
              <a:srgbClr val="2F6656"/>
            </a:solidFill>
            <a:prstDash val="solid"/>
            <a:tailEnd type="triangle" w="sm" len="sm"/>
          </a:ln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B38BBDE-1140-416F-BCF5-222932FFFD6A}"/>
              </a:ext>
            </a:extLst>
          </p:cNvPr>
          <p:cNvSpPr>
            <a:spLocks noGrp="1"/>
          </p:cNvSpPr>
          <p:nvPr/>
        </p:nvSpPr>
        <p:spPr>
          <a:xfrm>
            <a:off x="742950" y="43815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The diagram shows the intended direction of the project. Betting and community cards have not been added to the current prototype yet.</a:t>
            </a:r>
          </a:p>
        </p:txBody>
      </p:sp>
    </p:spTree>
    <p:extLst>
      <p:ext uri="{BB962C8B-B14F-4D97-AF65-F5344CB8AC3E}">
        <p14:creationId xmlns:p14="http://schemas.microsoft.com/office/powerpoint/2010/main" val="64476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00D1285-CE91-4DDA-9CE9-C36EEB465A4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Planned Hand Evaluation: Best Five from Seven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DC3858-6B9B-4FFE-8E6C-513FD192AA56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B3AE5-7793-4866-9176-2AD64BCF59F9}"/>
              </a:ext>
            </a:extLst>
          </p:cNvPr>
          <p:cNvSpPr>
            <a:spLocks noGrp="1"/>
          </p:cNvSpPr>
          <p:nvPr/>
        </p:nvSpPr>
        <p:spPr>
          <a:xfrm>
            <a:off x="876300" y="1885950"/>
            <a:ext cx="4095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435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C(7, 5) = 21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FFD37A-BFF9-4378-ADCF-73DBB00C542A}"/>
              </a:ext>
            </a:extLst>
          </p:cNvPr>
          <p:cNvSpPr>
            <a:spLocks noGrp="1"/>
          </p:cNvSpPr>
          <p:nvPr/>
        </p:nvSpPr>
        <p:spPr>
          <a:xfrm>
            <a:off x="914400" y="2838450"/>
            <a:ext cx="4143375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 future evaluator will score all 21 five-card combinations and keep the strongest hand.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82CB0D-E436-4580-A36B-4D2E09AE824C}"/>
              </a:ext>
            </a:extLst>
          </p:cNvPr>
          <p:cNvSpPr>
            <a:spLocks noGrp="1"/>
          </p:cNvSpPr>
          <p:nvPr/>
        </p:nvSpPr>
        <p:spPr>
          <a:xfrm>
            <a:off x="5619750" y="1714500"/>
            <a:ext cx="4667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1846"/>
          </a:bodyPr>
          <a:lstStyle/>
          <a:p>
            <a:pPr algn="l">
              <a:defRPr sz="202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Hand Categories, Weakest to Strongest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3B91EA-F1A5-4808-983F-B9B7C8402C0D}"/>
              </a:ext>
            </a:extLst>
          </p:cNvPr>
          <p:cNvSpPr>
            <a:spLocks noGrp="1"/>
          </p:cNvSpPr>
          <p:nvPr/>
        </p:nvSpPr>
        <p:spPr>
          <a:xfrm>
            <a:off x="5638800" y="223837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0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High Card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0E6B7D-3093-468B-9629-0E7E510EB33A}"/>
              </a:ext>
            </a:extLst>
          </p:cNvPr>
          <p:cNvSpPr>
            <a:spLocks noGrp="1"/>
          </p:cNvSpPr>
          <p:nvPr/>
        </p:nvSpPr>
        <p:spPr>
          <a:xfrm>
            <a:off x="5638800" y="263842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1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One Pair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D2813F-1D93-4523-82AD-0F35303F6E0A}"/>
              </a:ext>
            </a:extLst>
          </p:cNvPr>
          <p:cNvSpPr>
            <a:spLocks noGrp="1"/>
          </p:cNvSpPr>
          <p:nvPr/>
        </p:nvSpPr>
        <p:spPr>
          <a:xfrm>
            <a:off x="5638800" y="303847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2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Two Pair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011A82-3500-4E3B-B82B-EA532F153BE4}"/>
              </a:ext>
            </a:extLst>
          </p:cNvPr>
          <p:cNvSpPr>
            <a:spLocks noGrp="1"/>
          </p:cNvSpPr>
          <p:nvPr/>
        </p:nvSpPr>
        <p:spPr>
          <a:xfrm>
            <a:off x="5638800" y="343852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3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Three of a Kind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044F14-CF68-444E-9DB0-522952624142}"/>
              </a:ext>
            </a:extLst>
          </p:cNvPr>
          <p:cNvSpPr>
            <a:spLocks noGrp="1"/>
          </p:cNvSpPr>
          <p:nvPr/>
        </p:nvSpPr>
        <p:spPr>
          <a:xfrm>
            <a:off x="5638800" y="383857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4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Straight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1D5B2A-C51B-4FE7-AA26-71F2EF006446}"/>
              </a:ext>
            </a:extLst>
          </p:cNvPr>
          <p:cNvSpPr>
            <a:spLocks noGrp="1"/>
          </p:cNvSpPr>
          <p:nvPr/>
        </p:nvSpPr>
        <p:spPr>
          <a:xfrm>
            <a:off x="8172450" y="2238375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5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Flush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FC01AC-26B5-4CBA-B5DF-2EF3AFB0E576}"/>
              </a:ext>
            </a:extLst>
          </p:cNvPr>
          <p:cNvSpPr>
            <a:spLocks noGrp="1"/>
          </p:cNvSpPr>
          <p:nvPr/>
        </p:nvSpPr>
        <p:spPr>
          <a:xfrm>
            <a:off x="8172450" y="2638425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6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Full House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57AD0-F4DF-4060-BF57-D1790F9E8F20}"/>
              </a:ext>
            </a:extLst>
          </p:cNvPr>
          <p:cNvSpPr>
            <a:spLocks noGrp="1"/>
          </p:cNvSpPr>
          <p:nvPr/>
        </p:nvSpPr>
        <p:spPr>
          <a:xfrm>
            <a:off x="8172450" y="3038475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7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Four of a Kind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DF6775-CB36-4A1C-901C-CFB7CE20BFF4}"/>
              </a:ext>
            </a:extLst>
          </p:cNvPr>
          <p:cNvSpPr>
            <a:spLocks noGrp="1"/>
          </p:cNvSpPr>
          <p:nvPr/>
        </p:nvSpPr>
        <p:spPr>
          <a:xfrm>
            <a:off x="8172450" y="3438525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8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Straight Flush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628D72-8538-4210-8341-F7FB5305D9C7}"/>
              </a:ext>
            </a:extLst>
          </p:cNvPr>
          <p:cNvSpPr>
            <a:spLocks noGrp="1"/>
          </p:cNvSpPr>
          <p:nvPr/>
        </p:nvSpPr>
        <p:spPr>
          <a:xfrm>
            <a:off x="876300" y="4171950"/>
            <a:ext cx="10439400" cy="14288"/>
          </a:xfrm>
          <a:prstGeom prst="rect">
            <a:avLst/>
          </a:prstGeom>
          <a:solidFill>
            <a:srgbClr val="C9D2CB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645CAF-EF42-4CA7-B9C5-228E20903E67}"/>
              </a:ext>
            </a:extLst>
          </p:cNvPr>
          <p:cNvSpPr>
            <a:spLocks noGrp="1"/>
          </p:cNvSpPr>
          <p:nvPr/>
        </p:nvSpPr>
        <p:spPr>
          <a:xfrm>
            <a:off x="895350" y="44386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1594"/>
          </a:bodyPr>
          <a:lstStyle/>
          <a:p>
            <a:pPr algn="l">
              <a:defRPr sz="172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Example Score (Planned)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2CCE2C-0FDB-459A-A36C-344C78A8650D}"/>
              </a:ext>
            </a:extLst>
          </p:cNvPr>
          <p:cNvSpPr>
            <a:spLocks noGrp="1"/>
          </p:cNvSpPr>
          <p:nvPr/>
        </p:nvSpPr>
        <p:spPr>
          <a:xfrm>
            <a:off x="2647950" y="43815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1C302B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1C302B"/>
                </a:solidFill>
                <a:latin typeface="Consolas"/>
                <a:ea typeface="Consolas"/>
                <a:cs typeface="Consolas"/>
              </a:rPr>
              <a:t>(1, 14, 13, 8, 3)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E99202-D196-4406-8410-5F6E7C212069}"/>
              </a:ext>
            </a:extLst>
          </p:cNvPr>
          <p:cNvSpPr>
            <a:spLocks noGrp="1"/>
          </p:cNvSpPr>
          <p:nvPr/>
        </p:nvSpPr>
        <p:spPr>
          <a:xfrm>
            <a:off x="5905500" y="4438650"/>
            <a:ext cx="533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 future score tuple can represent a pair of Aces and its K, 8, and 3 kickers.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4E604A-A86B-4831-B37B-10BEF8C73B34}"/>
              </a:ext>
            </a:extLst>
          </p:cNvPr>
          <p:cNvSpPr>
            <a:spLocks noGrp="1"/>
          </p:cNvSpPr>
          <p:nvPr/>
        </p:nvSpPr>
        <p:spPr>
          <a:xfrm>
            <a:off x="895350" y="529590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A-2-3-4-5 is also a straight; in this case, Ace counts as the lowest rank.</a:t>
            </a:r>
          </a:p>
        </p:txBody>
      </p:sp>
    </p:spTree>
    <p:extLst>
      <p:ext uri="{BB962C8B-B14F-4D97-AF65-F5344CB8AC3E}">
        <p14:creationId xmlns:p14="http://schemas.microsoft.com/office/powerpoint/2010/main" val="798325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812C6F2-F949-44A4-822E-54C4E731C883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Current Framework and Planned Modules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19782E-6221-4EA3-9FB2-8AB515D68A48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D5F324-79B9-4DB4-9C06-E1E8891F2344}"/>
              </a:ext>
            </a:extLst>
          </p:cNvPr>
          <p:cNvSpPr>
            <a:spLocks noGrp="1"/>
          </p:cNvSpPr>
          <p:nvPr/>
        </p:nvSpPr>
        <p:spPr>
          <a:xfrm>
            <a:off x="2781300" y="1600200"/>
            <a:ext cx="6629400" cy="819150"/>
          </a:xfrm>
          <a:prstGeom prst="rect">
            <a:avLst/>
          </a:prstGeom>
          <a:solidFill>
            <a:srgbClr val="163B32"/>
          </a:solidFill>
          <a:ln w="9525">
            <a:solidFill>
              <a:srgbClr val="163B32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213E54-2615-46BC-B95E-0FCFA24E451B}"/>
              </a:ext>
            </a:extLst>
          </p:cNvPr>
          <p:cNvSpPr>
            <a:spLocks noGrp="1"/>
          </p:cNvSpPr>
          <p:nvPr/>
        </p:nvSpPr>
        <p:spPr>
          <a:xfrm>
            <a:off x="3009900" y="1809750"/>
            <a:ext cx="61722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582"/>
          </a:bodyPr>
          <a:lstStyle/>
          <a:p>
            <a:pPr algn="ctr">
              <a:defRPr sz="1875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TexasHoldemGame  start the first dealing demonstration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78AE0C-A0DB-4FFC-9F81-35B836758887}"/>
              </a:ext>
            </a:extLst>
          </p:cNvPr>
          <p:cNvSpPr>
            <a:spLocks noGrp="1"/>
          </p:cNvSpPr>
          <p:nvPr/>
        </p:nvSpPr>
        <p:spPr>
          <a:xfrm>
            <a:off x="781050" y="3352800"/>
            <a:ext cx="3143250" cy="1790700"/>
          </a:xfrm>
          <a:prstGeom prst="rect">
            <a:avLst/>
          </a:prstGeom>
          <a:solidFill>
            <a:srgbClr val="FFFDF8"/>
          </a:solidFill>
          <a:ln w="14288">
            <a:solidFill>
              <a:srgbClr val="C9D2CB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D77D98-A3E0-4AF4-BD0F-FBBEE4815081}"/>
              </a:ext>
            </a:extLst>
          </p:cNvPr>
          <p:cNvSpPr>
            <a:spLocks noGrp="1"/>
          </p:cNvSpPr>
          <p:nvPr/>
        </p:nvSpPr>
        <p:spPr>
          <a:xfrm>
            <a:off x="971550" y="3543300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Card / Deck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0AFA9E-68BF-407B-ACCE-6B0C64DDD88F}"/>
              </a:ext>
            </a:extLst>
          </p:cNvPr>
          <p:cNvSpPr>
            <a:spLocks noGrp="1"/>
          </p:cNvSpPr>
          <p:nvPr/>
        </p:nvSpPr>
        <p:spPr>
          <a:xfrm>
            <a:off x="971550" y="4057650"/>
            <a:ext cx="2762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Build a 52-card deck</a:t>
            </a:r>
          </a:p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Shuffle and deal cards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E1D9B5-F943-45EF-8846-4B2EB0C5ABFF}"/>
              </a:ext>
            </a:extLst>
          </p:cNvPr>
          <p:cNvSpPr>
            <a:spLocks noGrp="1"/>
          </p:cNvSpPr>
          <p:nvPr/>
        </p:nvSpPr>
        <p:spPr>
          <a:xfrm>
            <a:off x="4524375" y="3352800"/>
            <a:ext cx="3143250" cy="1790700"/>
          </a:xfrm>
          <a:prstGeom prst="rect">
            <a:avLst/>
          </a:prstGeom>
          <a:solidFill>
            <a:srgbClr val="FFFDF8"/>
          </a:solidFill>
          <a:ln w="14288">
            <a:solidFill>
              <a:srgbClr val="C9D2CB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71B599-DEF0-4E39-B0A4-1A047EB3ADCE}"/>
              </a:ext>
            </a:extLst>
          </p:cNvPr>
          <p:cNvSpPr>
            <a:spLocks noGrp="1"/>
          </p:cNvSpPr>
          <p:nvPr/>
        </p:nvSpPr>
        <p:spPr>
          <a:xfrm>
            <a:off x="4714875" y="3543300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Player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B7F4B4-617A-4B42-8FCD-3BA315306324}"/>
              </a:ext>
            </a:extLst>
          </p:cNvPr>
          <p:cNvSpPr>
            <a:spLocks noGrp="1"/>
          </p:cNvSpPr>
          <p:nvPr/>
        </p:nvSpPr>
        <p:spPr>
          <a:xfrm>
            <a:off x="4714875" y="4057650"/>
            <a:ext cx="2762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Store a name and two private cards</a:t>
            </a:r>
          </a:p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No computer strategy yet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46CA21-3CBB-4277-ACAF-A07B449F48EB}"/>
              </a:ext>
            </a:extLst>
          </p:cNvPr>
          <p:cNvSpPr>
            <a:spLocks noGrp="1"/>
          </p:cNvSpPr>
          <p:nvPr/>
        </p:nvSpPr>
        <p:spPr>
          <a:xfrm>
            <a:off x="8267700" y="3352800"/>
            <a:ext cx="3143250" cy="1790700"/>
          </a:xfrm>
          <a:prstGeom prst="rect">
            <a:avLst/>
          </a:prstGeom>
          <a:solidFill>
            <a:srgbClr val="FFFDF8"/>
          </a:solidFill>
          <a:ln w="14288">
            <a:solidFill>
              <a:srgbClr val="C9D2CB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62C5A8-7C1E-44AE-85F1-D9A43EFEC878}"/>
              </a:ext>
            </a:extLst>
          </p:cNvPr>
          <p:cNvSpPr>
            <a:spLocks noGrp="1"/>
          </p:cNvSpPr>
          <p:nvPr/>
        </p:nvSpPr>
        <p:spPr>
          <a:xfrm>
            <a:off x="8458200" y="3543300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Planned next steps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4A10F8-E912-437C-8EA9-266C7AC5641B}"/>
              </a:ext>
            </a:extLst>
          </p:cNvPr>
          <p:cNvSpPr>
            <a:spLocks noGrp="1"/>
          </p:cNvSpPr>
          <p:nvPr/>
        </p:nvSpPr>
        <p:spPr>
          <a:xfrm>
            <a:off x="8458200" y="4057650"/>
            <a:ext cx="2762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Add hand evaluation</a:t>
            </a:r>
          </a:p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Compare hands and settle the pot</a:t>
            </a:r>
          </a:p>
        </p:txBody>
      </p:sp>
      <p:cxnSp>
        <p:nvCxnSpPr>
          <p:cNvPr id="31" name="Straight Arrow Connector 30"/>
          <p:cNvCxnSpPr>
            <a:stCxn id="3" idx="2"/>
            <a:endCxn id="5" idx="0"/>
          </p:cNvCxnSpPr>
          <p:nvPr/>
        </p:nvCxnSpPr>
        <p:spPr>
          <a:xfrm flipH="1">
            <a:off x="2352675" y="2419350"/>
            <a:ext cx="3743325" cy="933450"/>
          </a:xfrm>
          <a:prstGeom prst="straightConnector1">
            <a:avLst/>
          </a:prstGeom>
          <a:ln w="16193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32" name="Straight Arrow Connector 31"/>
          <p:cNvCxnSpPr>
            <a:stCxn id="3" idx="2"/>
            <a:endCxn id="8" idx="0"/>
          </p:cNvCxnSpPr>
          <p:nvPr/>
        </p:nvCxnSpPr>
        <p:spPr>
          <a:xfrm>
            <a:off x="6096000" y="2419350"/>
            <a:ext cx="0" cy="933450"/>
          </a:xfrm>
          <a:prstGeom prst="straightConnector1">
            <a:avLst/>
          </a:prstGeom>
          <a:ln w="16193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33" name="Straight Arrow Connector 32"/>
          <p:cNvCxnSpPr>
            <a:stCxn id="3" idx="2"/>
            <a:endCxn id="11" idx="0"/>
          </p:cNvCxnSpPr>
          <p:nvPr/>
        </p:nvCxnSpPr>
        <p:spPr>
          <a:xfrm>
            <a:off x="6096000" y="2419350"/>
            <a:ext cx="3743325" cy="933450"/>
          </a:xfrm>
          <a:prstGeom prst="straightConnector1">
            <a:avLst/>
          </a:prstGeom>
          <a:ln w="16193">
            <a:solidFill>
              <a:srgbClr val="2F6656"/>
            </a:solidFill>
            <a:prstDash val="solid"/>
            <a:tailEnd type="triangle" w="sm" len="sm"/>
          </a:ln>
        </p:spPr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B514CDF-8AB4-445A-B4D1-AE7D5320A889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1057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Used so far: classes, objects, lists, loops, conditionals, and random.shuffle. Next: add the betting flow and hand evaluation.</a:t>
            </a:r>
          </a:p>
        </p:txBody>
      </p:sp>
    </p:spTree>
    <p:extLst>
      <p:ext uri="{BB962C8B-B14F-4D97-AF65-F5344CB8AC3E}">
        <p14:creationId xmlns:p14="http://schemas.microsoft.com/office/powerpoint/2010/main" val="1968845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F7254ED-E745-45BE-B31B-E1C309D38C5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Future Idea: Computer Strategy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E1F70B-70F4-498D-AC7F-0722600B6C3A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9C9D64-ADE1-4FDB-B44A-6B59AC2DA303}"/>
              </a:ext>
            </a:extLst>
          </p:cNvPr>
          <p:cNvSpPr>
            <a:spLocks noGrp="1"/>
          </p:cNvSpPr>
          <p:nvPr/>
        </p:nvSpPr>
        <p:spPr>
          <a:xfrm>
            <a:off x="819150" y="1752600"/>
            <a:ext cx="4667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Hand-Strength Estimate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1AE247-F382-4914-AEE2-266DF410E73A}"/>
              </a:ext>
            </a:extLst>
          </p:cNvPr>
          <p:cNvSpPr>
            <a:spLocks noGrp="1"/>
          </p:cNvSpPr>
          <p:nvPr/>
        </p:nvSpPr>
        <p:spPr>
          <a:xfrm>
            <a:off x="819150" y="2286000"/>
            <a:ext cx="47625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 later computer player could estimate starting-hand strength before the Flop.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After the Flop, it could use the best-five hand category.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FC0CA1-CA2A-4635-88C2-9C527DAF5E54}"/>
              </a:ext>
            </a:extLst>
          </p:cNvPr>
          <p:cNvSpPr>
            <a:spLocks noGrp="1"/>
          </p:cNvSpPr>
          <p:nvPr/>
        </p:nvSpPr>
        <p:spPr>
          <a:xfrm>
            <a:off x="6000750" y="1752600"/>
            <a:ext cx="19050" cy="3467100"/>
          </a:xfrm>
          <a:prstGeom prst="rect">
            <a:avLst/>
          </a:prstGeom>
          <a:solidFill>
            <a:srgbClr val="C9D2CB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F5385-DFF2-4CF8-8386-32A06A33AF1E}"/>
              </a:ext>
            </a:extLst>
          </p:cNvPr>
          <p:cNvSpPr>
            <a:spLocks noGrp="1"/>
          </p:cNvSpPr>
          <p:nvPr/>
        </p:nvSpPr>
        <p:spPr>
          <a:xfrm>
            <a:off x="6515100" y="1752600"/>
            <a:ext cx="428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Cost to Call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3D8C51-5828-4268-A982-50FCF924BB60}"/>
              </a:ext>
            </a:extLst>
          </p:cNvPr>
          <p:cNvSpPr>
            <a:spLocks noGrp="1"/>
          </p:cNvSpPr>
          <p:nvPr/>
        </p:nvSpPr>
        <p:spPr>
          <a:xfrm>
            <a:off x="6515100" y="2286000"/>
            <a:ext cx="495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Pot odds = call amount ÷ (current pot + call amount)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010EF3-344F-439A-A5EF-327CF1D48384}"/>
              </a:ext>
            </a:extLst>
          </p:cNvPr>
          <p:cNvSpPr>
            <a:spLocks noGrp="1"/>
          </p:cNvSpPr>
          <p:nvPr/>
        </p:nvSpPr>
        <p:spPr>
          <a:xfrm>
            <a:off x="6515100" y="3162300"/>
            <a:ext cx="4953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 later version could use pot odds to choose whether to call or fold, with some randomness in its decisions.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8AC2D9-90EA-4C63-AF24-B2BD1B3AFDF6}"/>
              </a:ext>
            </a:extLst>
          </p:cNvPr>
          <p:cNvSpPr>
            <a:spLocks noGrp="1"/>
          </p:cNvSpPr>
          <p:nvPr/>
        </p:nvSpPr>
        <p:spPr>
          <a:xfrm>
            <a:off x="819150" y="4762500"/>
            <a:ext cx="10572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This is only a future design idea. The current prototype has no computer strategy.</a:t>
            </a:r>
          </a:p>
        </p:txBody>
      </p:sp>
    </p:spTree>
    <p:extLst>
      <p:ext uri="{BB962C8B-B14F-4D97-AF65-F5344CB8AC3E}">
        <p14:creationId xmlns:p14="http://schemas.microsoft.com/office/powerpoint/2010/main" val="1177492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A16F96D-0209-4F01-89D6-99717F7ED687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Live Demo Guide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393ED4-3E56-444E-8B88-236059CDC2BC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38A394-4D07-469E-9B6A-80A5FC73B61C}"/>
              </a:ext>
            </a:extLst>
          </p:cNvPr>
          <p:cNvSpPr>
            <a:spLocks noGrp="1"/>
          </p:cNvSpPr>
          <p:nvPr/>
        </p:nvSpPr>
        <p:spPr>
          <a:xfrm>
            <a:off x="819150" y="1609725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Run the Program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9A7D90-4616-4341-B703-E37450B77AA4}"/>
              </a:ext>
            </a:extLst>
          </p:cNvPr>
          <p:cNvSpPr>
            <a:spLocks noGrp="1"/>
          </p:cNvSpPr>
          <p:nvPr/>
        </p:nvSpPr>
        <p:spPr>
          <a:xfrm>
            <a:off x="819150" y="2114550"/>
            <a:ext cx="10553700" cy="647700"/>
          </a:xfrm>
          <a:prstGeom prst="rect">
            <a:avLst/>
          </a:prstGeom>
          <a:solidFill>
            <a:srgbClr val="102B26"/>
          </a:solidFill>
          <a:ln w="9525">
            <a:solidFill>
              <a:srgbClr val="102B2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9EAE4E-954F-414D-A91E-A77B4263BFFC}"/>
              </a:ext>
            </a:extLst>
          </p:cNvPr>
          <p:cNvSpPr>
            <a:spLocks noGrp="1"/>
          </p:cNvSpPr>
          <p:nvPr/>
        </p:nvSpPr>
        <p:spPr>
          <a:xfrm>
            <a:off x="1066800" y="2266950"/>
            <a:ext cx="9791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950" b="1">
                <a:solidFill>
                  <a:srgbClr val="FFFDF8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FFFDF8"/>
                </a:solidFill>
                <a:latin typeface="Consolas"/>
                <a:ea typeface="Consolas"/>
                <a:cs typeface="Consolas"/>
              </a:rPr>
              <a:t>py -3 texas_holdem_midterm.py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456566-A7F6-4F97-BE01-0074C950BCAA}"/>
              </a:ext>
            </a:extLst>
          </p:cNvPr>
          <p:cNvSpPr>
            <a:spLocks noGrp="1"/>
          </p:cNvSpPr>
          <p:nvPr/>
        </p:nvSpPr>
        <p:spPr>
          <a:xfrm>
            <a:off x="914400" y="32385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48EA0D-31C9-499C-9A9D-E75FC6DC088E}"/>
              </a:ext>
            </a:extLst>
          </p:cNvPr>
          <p:cNvSpPr>
            <a:spLocks noGrp="1"/>
          </p:cNvSpPr>
          <p:nvPr/>
        </p:nvSpPr>
        <p:spPr>
          <a:xfrm>
            <a:off x="1562100" y="3238500"/>
            <a:ext cx="9763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989"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Show that the program creates and shuffles a 52-card deck, then deals two cards to each player.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809A07-CDB7-4F8B-98A3-F3B8A9AF7B67}"/>
              </a:ext>
            </a:extLst>
          </p:cNvPr>
          <p:cNvSpPr>
            <a:spLocks noGrp="1"/>
          </p:cNvSpPr>
          <p:nvPr/>
        </p:nvSpPr>
        <p:spPr>
          <a:xfrm>
            <a:off x="914400" y="394335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5AEE3D-BC1E-4EB1-8F30-3E387DB5100E}"/>
              </a:ext>
            </a:extLst>
          </p:cNvPr>
          <p:cNvSpPr>
            <a:spLocks noGrp="1"/>
          </p:cNvSpPr>
          <p:nvPr/>
        </p:nvSpPr>
        <p:spPr>
          <a:xfrm>
            <a:off x="1562100" y="3943350"/>
            <a:ext cx="9763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Point out the Card, Deck, Player, and TexasHoldemGame classes in the source code.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5739D3-31E0-4677-BAF5-956AEF4C8E98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063ABC-0747-41F4-A137-DF3FD112E7BC}"/>
              </a:ext>
            </a:extLst>
          </p:cNvPr>
          <p:cNvSpPr>
            <a:spLocks noGrp="1"/>
          </p:cNvSpPr>
          <p:nvPr/>
        </p:nvSpPr>
        <p:spPr>
          <a:xfrm>
            <a:off x="1562100" y="4648200"/>
            <a:ext cx="9763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Show the two private cards and the number of cards remaining in the deck.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C51541-B1FA-42C9-8316-179E80F4DAED}"/>
              </a:ext>
            </a:extLst>
          </p:cNvPr>
          <p:cNvSpPr>
            <a:spLocks noGrp="1"/>
          </p:cNvSpPr>
          <p:nvPr/>
        </p:nvSpPr>
        <p:spPr>
          <a:xfrm>
            <a:off x="914400" y="535305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AD9970-8451-4ED7-A9FD-AFE79E145514}"/>
              </a:ext>
            </a:extLst>
          </p:cNvPr>
          <p:cNvSpPr>
            <a:spLocks noGrp="1"/>
          </p:cNvSpPr>
          <p:nvPr/>
        </p:nvSpPr>
        <p:spPr>
          <a:xfrm>
            <a:off x="1562100" y="5353050"/>
            <a:ext cx="9763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Explain which parts are TODO items: blinds, betting, community cards, and hand comparison.</a:t>
            </a:r>
          </a:p>
        </p:txBody>
      </p:sp>
    </p:spTree>
    <p:extLst>
      <p:ext uri="{BB962C8B-B14F-4D97-AF65-F5344CB8AC3E}">
        <p14:creationId xmlns:p14="http://schemas.microsoft.com/office/powerpoint/2010/main" val="1676849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7E3F294-B86C-4782-963F-91FA603D4D89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Midterm Progress and 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5B217C-E345-4BC2-9DC3-59A2E7E8DBC9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105104-D2FB-41B2-9322-90A2BB1F26ED}"/>
              </a:ext>
            </a:extLst>
          </p:cNvPr>
          <p:cNvSpPr>
            <a:spLocks noGrp="1"/>
          </p:cNvSpPr>
          <p:nvPr/>
        </p:nvSpPr>
        <p:spPr>
          <a:xfrm>
            <a:off x="838200" y="18288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rPr>
              <a:t>Current Prototype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B5615A-6584-4027-AE70-A865CB9FD971}"/>
              </a:ext>
            </a:extLst>
          </p:cNvPr>
          <p:cNvSpPr>
            <a:spLocks noGrp="1"/>
          </p:cNvSpPr>
          <p:nvPr/>
        </p:nvSpPr>
        <p:spPr>
          <a:xfrm>
            <a:off x="838200" y="2381250"/>
            <a:ext cx="466725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The program creates and shuffles a 52-card deck.</a:t>
            </a:r>
          </a:p>
          <a:p>
            <a:endParaRPr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It deals two private cards to each player and displays them.</a:t>
            </a:r>
          </a:p>
          <a:p>
            <a:endParaRPr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The code is organized into Card, Deck, Player, and TexasHoldemGame classes.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60EAA2-8A73-44F2-AAA1-227631D5A14E}"/>
              </a:ext>
            </a:extLst>
          </p:cNvPr>
          <p:cNvSpPr>
            <a:spLocks noGrp="1"/>
          </p:cNvSpPr>
          <p:nvPr/>
        </p:nvSpPr>
        <p:spPr>
          <a:xfrm>
            <a:off x="6000750" y="1828800"/>
            <a:ext cx="19050" cy="3524250"/>
          </a:xfrm>
          <a:prstGeom prst="rect">
            <a:avLst/>
          </a:prstGeom>
          <a:solidFill>
            <a:srgbClr val="56766B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517C2-F6CC-4B08-A1B2-E732DF29F95A}"/>
              </a:ext>
            </a:extLst>
          </p:cNvPr>
          <p:cNvSpPr>
            <a:spLocks noGrp="1"/>
          </p:cNvSpPr>
          <p:nvPr/>
        </p:nvSpPr>
        <p:spPr>
          <a:xfrm>
            <a:off x="6515100" y="1828800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rPr>
              <a:t>Next Steps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C69D2B-267A-4559-BB20-2BE4AACEBC73}"/>
              </a:ext>
            </a:extLst>
          </p:cNvPr>
          <p:cNvSpPr>
            <a:spLocks noGrp="1"/>
          </p:cNvSpPr>
          <p:nvPr/>
        </p:nvSpPr>
        <p:spPr>
          <a:xfrm>
            <a:off x="6515100" y="2381250"/>
            <a:ext cx="47625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Add chips and blinds, then implement betting actions.</a:t>
            </a:r>
          </a:p>
          <a:p>
            <a:endParaRPr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Deal the Flop, Turn, and River; evaluate hands and settle the pot.</a:t>
            </a:r>
          </a:p>
          <a:p>
            <a:endParaRPr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Add computer decisions after the human-versus-computer game flow works.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3DC899-4F0B-4712-BFD3-77738880BE3F}"/>
              </a:ext>
            </a:extLst>
          </p:cNvPr>
          <p:cNvSpPr>
            <a:spLocks noGrp="1"/>
          </p:cNvSpPr>
          <p:nvPr/>
        </p:nvSpPr>
        <p:spPr>
          <a:xfrm>
            <a:off x="838200" y="5886450"/>
            <a:ext cx="10382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952"/>
          </a:bodyPr>
          <a:lstStyle/>
          <a:p>
            <a:pPr algn="l">
              <a:defRPr sz="1650" b="0">
                <a:solidFill>
                  <a:srgbClr val="D3E0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3E0D8"/>
                </a:solidFill>
                <a:latin typeface="Microsoft YaHei"/>
                <a:ea typeface="Microsoft YaHei"/>
                <a:cs typeface="Microsoft YaHei"/>
              </a:rPr>
              <a:t>Presentation order: run the card-dealing prototype, explain its classes, then outline the planned features.</a:t>
            </a:r>
          </a:p>
        </p:txBody>
      </p:sp>
    </p:spTree>
    <p:extLst>
      <p:ext uri="{BB962C8B-B14F-4D97-AF65-F5344CB8AC3E}">
        <p14:creationId xmlns:p14="http://schemas.microsoft.com/office/powerpoint/2010/main" val="189289642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949</Words>
  <Application>Microsoft Office PowerPoint</Application>
  <DocSecurity>0</DocSecurity>
  <PresentationFormat>Widescreen</PresentationFormat>
  <Paragraphs>108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Microsoft YaHei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Tiantian JIANG</cp:lastModifiedBy>
  <cp:revision>1</cp:revision>
  <dcterms:created xsi:type="dcterms:W3CDTF">2026-09-29T05:41:36Z</dcterms:created>
  <dcterms:modified xsi:type="dcterms:W3CDTF">2026-10-07T23:52:24Z</dcterms:modified>
</cp:coreProperties>
</file>